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59" r:id="rId9"/>
    <p:sldId id="260" r:id="rId10"/>
    <p:sldId id="263" r:id="rId11"/>
    <p:sldId id="267" r:id="rId12"/>
    <p:sldId id="266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68F509-78CF-4795-AEC3-10870775428E}" v="38" dt="2025-01-31T10:17:33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ya Subasingha Arachchige" userId="S::chanya.subasingha@newcollege.ac.uk::61729949-7b4d-47b7-93b3-34694cf05899" providerId="AD" clId="Web-{4A68F509-78CF-4795-AEC3-10870775428E}"/>
    <pc:docChg chg="modSld">
      <pc:chgData name="Chanya Subasingha Arachchige" userId="S::chanya.subasingha@newcollege.ac.uk::61729949-7b4d-47b7-93b3-34694cf05899" providerId="AD" clId="Web-{4A68F509-78CF-4795-AEC3-10870775428E}" dt="2025-01-31T10:17:30.256" v="23" actId="20577"/>
      <pc:docMkLst>
        <pc:docMk/>
      </pc:docMkLst>
      <pc:sldChg chg="modSp">
        <pc:chgData name="Chanya Subasingha Arachchige" userId="S::chanya.subasingha@newcollege.ac.uk::61729949-7b4d-47b7-93b3-34694cf05899" providerId="AD" clId="Web-{4A68F509-78CF-4795-AEC3-10870775428E}" dt="2025-01-31T10:15:55.155" v="0" actId="14100"/>
        <pc:sldMkLst>
          <pc:docMk/>
          <pc:sldMk cId="2456207443" sldId="258"/>
        </pc:sldMkLst>
        <pc:spChg chg="mod">
          <ac:chgData name="Chanya Subasingha Arachchige" userId="S::chanya.subasingha@newcollege.ac.uk::61729949-7b4d-47b7-93b3-34694cf05899" providerId="AD" clId="Web-{4A68F509-78CF-4795-AEC3-10870775428E}" dt="2025-01-31T10:15:55.155" v="0" actId="14100"/>
          <ac:spMkLst>
            <pc:docMk/>
            <pc:sldMk cId="2456207443" sldId="258"/>
            <ac:spMk id="8" creationId="{A88E7E8E-15F2-4FED-8D88-9B9631740CDC}"/>
          </ac:spMkLst>
        </pc:spChg>
      </pc:sldChg>
      <pc:sldChg chg="modSp">
        <pc:chgData name="Chanya Subasingha Arachchige" userId="S::chanya.subasingha@newcollege.ac.uk::61729949-7b4d-47b7-93b3-34694cf05899" providerId="AD" clId="Web-{4A68F509-78CF-4795-AEC3-10870775428E}" dt="2025-01-31T10:17:30.256" v="23" actId="20577"/>
        <pc:sldMkLst>
          <pc:docMk/>
          <pc:sldMk cId="88170936" sldId="261"/>
        </pc:sldMkLst>
        <pc:spChg chg="mod">
          <ac:chgData name="Chanya Subasingha Arachchige" userId="S::chanya.subasingha@newcollege.ac.uk::61729949-7b4d-47b7-93b3-34694cf05899" providerId="AD" clId="Web-{4A68F509-78CF-4795-AEC3-10870775428E}" dt="2025-01-31T10:17:30.256" v="23" actId="20577"/>
          <ac:spMkLst>
            <pc:docMk/>
            <pc:sldMk cId="88170936" sldId="261"/>
            <ac:spMk id="4" creationId="{DCD91FE6-7E73-4316-8508-75E52E15627D}"/>
          </ac:spMkLst>
        </pc:spChg>
        <pc:spChg chg="mod">
          <ac:chgData name="Chanya Subasingha Arachchige" userId="S::chanya.subasingha@newcollege.ac.uk::61729949-7b4d-47b7-93b3-34694cf05899" providerId="AD" clId="Web-{4A68F509-78CF-4795-AEC3-10870775428E}" dt="2025-01-31T10:16:51.237" v="6" actId="20577"/>
          <ac:spMkLst>
            <pc:docMk/>
            <pc:sldMk cId="88170936" sldId="261"/>
            <ac:spMk id="5" creationId="{80135D38-2C94-438F-8761-CB879B39F7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0A6E-2AF5-4DCB-A7E4-68A99A8EC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E38AC-6824-4EA6-A4C1-218CD8B3D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588B4-D8B9-4B19-AAC2-D05B22F7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CDE52-8E6F-4DDA-95BF-F9F1EB72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86E77-DA6B-495D-823A-E1211270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44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68FB-CB1E-4EAF-9D3E-8978EF94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DFDF-BE0C-4F3E-A07F-9F61464A1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2BC4D-A9EA-4845-986C-061038E7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E507F-0536-4BDA-BD02-4E30BDBC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6DB5-899A-4F31-9591-780E84FF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5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EBB7-F455-4ADC-BA19-FF2766CE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19300-21D5-44E7-8C0C-533786530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9035-7E22-4D66-A2BC-2B273381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895D-18F4-4AD2-B924-D3FF4F14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9E336-5E38-42B1-8FF5-232A6002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08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CE34-BBA5-4059-93B7-64A8B11F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3047-AD51-4421-B13B-AA7D9A367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06361-4092-4C43-9FF2-E57C5F4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4B33B-4D6C-4CDB-B6CF-29E88294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80B26-7489-4548-967F-5034A61A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069EE-749A-4C7E-B10D-D27CAD05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42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E1A1-A80D-47F0-A63D-C354EA1C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97F0-FF64-4C54-A970-538573CD1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860D0-D9C4-4F59-9828-B507BAB9F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95D61-D450-47C1-A12C-5458A8DE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F3544-9ED7-4813-9E38-648D9A43E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4AC74-29F7-4C58-BEA5-09E5B2F8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8119E-8858-49AD-B907-8A12EDEA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C8B01-BADB-4136-94A4-A628948B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35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E0A7-5DC8-4A85-B093-DBAFA688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30D36-C055-4BEF-AEB6-15351975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06311-C753-402B-9730-BC9775F0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BCE6C-21AE-4122-8BAA-E1BDF625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22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B5B31-2E03-4C62-B547-7B8BD97C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EC531-F5E8-4379-AF17-351298AB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3630A-F19D-4EBD-8783-2C3BE7EE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65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3777-9A42-48E1-B05E-7FB41C78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93EF-32C1-4B47-9881-8A094CD0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38771-BA60-432C-BDE1-25BFB9C92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A4B42-A0B1-4A04-9A51-C4CB0686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175F7-6D14-4CE9-9FEF-17C631D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D40A0-36DE-4573-B7A6-3B2C8416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88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85E9-0317-46BC-8D0B-31ABED0FF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81F5-EEF8-4188-9E1B-3FD1DD9CB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29365-21B7-47EE-A570-4A68AE43A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BCF3-7A77-4D76-8152-8108B9AF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337A5-F8E1-46EC-9D15-F6460E98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333AA-780D-4FE3-89C3-FD8C57EC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085E-2BF8-40D1-B03D-26153C38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9FD6E-44E8-4FED-A66E-CE1E5490B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225C7-49FF-4B1B-A973-5F864BB5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A2A5-646A-46E2-85C7-68A021DC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29FF-D79C-47B1-87F4-CCEAC98D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287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9EE17-84B1-4B50-A528-B5EAD6ADD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C9874-C340-4296-97EC-55BB56815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168B5-9FE9-465D-B772-E9D90A21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0EAD5-55DD-4EA8-B8F1-340D8D83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5248-1505-4713-BCE0-2FDECD92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35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CE608-7907-4992-9E5D-EA417B72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63BAB-8145-4ECB-AABC-663181C2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964B-25BD-4107-8742-082AB6D66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9336B-433A-4E06-BD13-D88BBF901BB1}" type="datetimeFigureOut">
              <a:rPr lang="en-GB" smtClean="0"/>
              <a:t>31/01/2025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3A920-45D1-4F8F-8DE1-3AD837EFC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DE7EC-52EF-4FAE-BDD3-547CF6744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38DCD-B828-449F-8EE3-686E1B063F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32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nyadeshani/Cofeesho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DB93-C5B5-483A-808C-DC244D323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Developing the client-side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565A0-96C8-413F-B929-2DB1BD7FE0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Dynamic use of templates in Jinja2 </a:t>
            </a:r>
          </a:p>
        </p:txBody>
      </p:sp>
    </p:spTree>
    <p:extLst>
      <p:ext uri="{BB962C8B-B14F-4D97-AF65-F5344CB8AC3E}">
        <p14:creationId xmlns:p14="http://schemas.microsoft.com/office/powerpoint/2010/main" val="1786135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E4CA-6896-4452-B47D-1CD54A8E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Base.html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18CC454-FCFA-4BC5-9CCB-6109D7B9C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0249" y="1523648"/>
            <a:ext cx="5840231" cy="489364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&lt;!DOCTYPE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  <a:latin typeface="JetBrains Mono"/>
              </a:rPr>
              <a:t>html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&lt;html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  <a:latin typeface="JetBrains Mono"/>
              </a:rPr>
              <a:t>lang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5C261"/>
                </a:solidFill>
                <a:effectLst/>
                <a:latin typeface="JetBrains Mono"/>
              </a:rPr>
              <a:t>="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A5C261"/>
                </a:solidFill>
                <a:effectLst/>
                <a:latin typeface="JetBrains Mono"/>
              </a:rPr>
              <a:t>en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5C261"/>
                </a:solidFill>
                <a:effectLst/>
                <a:latin typeface="JetBrains Mono"/>
              </a:rPr>
              <a:t>"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&lt;head&gt;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    &lt;title&gt;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Title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&lt;/title&gt;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&lt;/head&gt;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&lt;body&gt;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    &lt;h1&gt;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This heading is common in all webpages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&lt;/h1&gt;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{% block content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{%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endblock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&lt;/body&gt;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  <a:latin typeface="JetBrains Mono"/>
              </a:rPr>
              <a:t>&lt;/html&gt;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117D5-9C8D-4BEA-B512-668D95C7EA32}"/>
              </a:ext>
            </a:extLst>
          </p:cNvPr>
          <p:cNvSpPr txBox="1"/>
          <p:nvPr/>
        </p:nvSpPr>
        <p:spPr>
          <a:xfrm>
            <a:off x="6502400" y="1568086"/>
            <a:ext cx="53128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273239"/>
                </a:solidFill>
              </a:rPr>
              <a:t>C</a:t>
            </a:r>
            <a:r>
              <a:rPr lang="en-GB" sz="2400" b="0" i="0">
                <a:solidFill>
                  <a:srgbClr val="273239"/>
                </a:solidFill>
                <a:effectLst/>
              </a:rPr>
              <a:t>reate a base page we use base.html</a:t>
            </a:r>
          </a:p>
          <a:p>
            <a:endParaRPr lang="en-GB" sz="2400">
              <a:solidFill>
                <a:srgbClr val="27323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>
                <a:solidFill>
                  <a:srgbClr val="273239"/>
                </a:solidFill>
                <a:effectLst/>
              </a:rPr>
              <a:t>{% block &lt;name&gt; %}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>
                <a:solidFill>
                  <a:srgbClr val="273239"/>
                </a:solidFill>
                <a:effectLst/>
              </a:rPr>
              <a:t>(where name = ‘content’) to start the block</a:t>
            </a:r>
            <a:r>
              <a:rPr lang="en-GB" sz="2400">
                <a:solidFill>
                  <a:srgbClr val="273239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>
                <a:solidFill>
                  <a:srgbClr val="273239"/>
                </a:solidFill>
                <a:effectLst/>
              </a:rPr>
              <a:t>end the block you simply 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>
                <a:solidFill>
                  <a:srgbClr val="273239"/>
                </a:solidFill>
                <a:effectLst/>
              </a:rPr>
              <a:t>“{% endblock %}”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>
                <a:solidFill>
                  <a:srgbClr val="273239"/>
                </a:solidFill>
                <a:effectLst/>
              </a:rPr>
              <a:t>this will copy everything below it 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34475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8D9-36A4-4A99-B3A3-D20E433D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12" y="24197"/>
            <a:ext cx="11150868" cy="1325563"/>
          </a:xfrm>
        </p:spPr>
        <p:txBody>
          <a:bodyPr/>
          <a:lstStyle/>
          <a:p>
            <a:r>
              <a:rPr lang="en-GB"/>
              <a:t>First page and second page using base content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553BA9-B35A-4EFC-9814-3B2BF8AECF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4570" y="1470881"/>
            <a:ext cx="6525127" cy="193899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{%extends "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</a:rPr>
              <a:t>base.html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"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 block content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&lt;p&gt;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Page one.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&lt;/p&gt;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</a:rPr>
              <a:t>endblock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%}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CC137-A641-4628-A750-71F833581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708" y="1500729"/>
            <a:ext cx="4036239" cy="2308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2A815-E4C6-4683-BDED-D74D0799BD68}"/>
              </a:ext>
            </a:extLst>
          </p:cNvPr>
          <p:cNvSpPr txBox="1"/>
          <p:nvPr/>
        </p:nvSpPr>
        <p:spPr>
          <a:xfrm>
            <a:off x="7936993" y="4404014"/>
            <a:ext cx="3194303" cy="8309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/>
              <a:t>Add two pages extending </a:t>
            </a:r>
            <a:r>
              <a:rPr lang="en-GB" sz="2400" err="1"/>
              <a:t>base.html</a:t>
            </a:r>
            <a:endParaRPr lang="en-GB" sz="240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8E7E8E-15F2-4FED-8D88-9B9631740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25" y="3678838"/>
            <a:ext cx="6534772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A9B7C6"/>
                </a:solidFill>
              </a:rPr>
              <a:t>{%extends "base.html" %}</a:t>
            </a:r>
            <a:br>
              <a:rPr lang="en-US" altLang="en-US" sz="2400">
                <a:solidFill>
                  <a:srgbClr val="A9B7C6"/>
                </a:solidFill>
              </a:rPr>
            </a:br>
            <a:br>
              <a:rPr lang="en-US" altLang="en-US" sz="2400">
                <a:solidFill>
                  <a:srgbClr val="A9B7C6"/>
                </a:solidFill>
              </a:rPr>
            </a:br>
            <a:r>
              <a:rPr lang="en-US" altLang="en-US" sz="2400">
                <a:solidFill>
                  <a:srgbClr val="A9B7C6"/>
                </a:solidFill>
              </a:rPr>
              <a:t>{% block content %}</a:t>
            </a:r>
            <a:br>
              <a:rPr lang="en-US" altLang="en-US" sz="2400">
                <a:solidFill>
                  <a:srgbClr val="A9B7C6"/>
                </a:solidFill>
              </a:rPr>
            </a:br>
            <a:r>
              <a:rPr lang="en-US" altLang="en-US" sz="2400">
                <a:solidFill>
                  <a:srgbClr val="A9B7C6"/>
                </a:solidFill>
              </a:rPr>
              <a:t>  </a:t>
            </a:r>
            <a:r>
              <a:rPr lang="en-US" altLang="en-US" sz="2400">
                <a:solidFill>
                  <a:srgbClr val="E8BF6A"/>
                </a:solidFill>
              </a:rPr>
              <a:t>&lt;H2&gt; </a:t>
            </a:r>
            <a:r>
              <a:rPr lang="en-US" altLang="en-US" sz="2400">
                <a:solidFill>
                  <a:srgbClr val="A9B7C6"/>
                </a:solidFill>
              </a:rPr>
              <a:t>This is the heading of the second page</a:t>
            </a:r>
            <a:r>
              <a:rPr lang="en-US" altLang="en-US" sz="2400">
                <a:solidFill>
                  <a:srgbClr val="E8BF6A"/>
                </a:solidFill>
              </a:rPr>
              <a:t>&lt;/H2&gt;</a:t>
            </a:r>
            <a:br>
              <a:rPr lang="en-US" altLang="en-US" sz="2400">
                <a:solidFill>
                  <a:srgbClr val="E8BF6A"/>
                </a:solidFill>
              </a:rPr>
            </a:br>
            <a:r>
              <a:rPr lang="en-US" altLang="en-US" sz="2400">
                <a:solidFill>
                  <a:srgbClr val="E8BF6A"/>
                </a:solidFill>
              </a:rPr>
              <a:t>  &lt;p&gt; </a:t>
            </a:r>
            <a:r>
              <a:rPr lang="en-US" altLang="en-US" sz="2400">
                <a:solidFill>
                  <a:srgbClr val="A9B7C6"/>
                </a:solidFill>
              </a:rPr>
              <a:t>Some more text</a:t>
            </a:r>
            <a:r>
              <a:rPr lang="en-US" altLang="en-US" sz="2400">
                <a:solidFill>
                  <a:srgbClr val="E8BF6A"/>
                </a:solidFill>
              </a:rPr>
              <a:t>&lt;/p&gt;</a:t>
            </a:r>
            <a:br>
              <a:rPr lang="en-US" altLang="en-US" sz="2400">
                <a:solidFill>
                  <a:srgbClr val="E8BF6A"/>
                </a:solidFill>
              </a:rPr>
            </a:br>
            <a:r>
              <a:rPr lang="en-US" altLang="en-US" sz="2400">
                <a:solidFill>
                  <a:srgbClr val="A9B7C6"/>
                </a:solidFill>
              </a:rPr>
              <a:t>{% endblock %}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45620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A35A-8B33-41E4-B230-9C5E7C46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Update the </a:t>
            </a:r>
            <a:r>
              <a:rPr lang="en-GB" err="1"/>
              <a:t>main.py</a:t>
            </a:r>
            <a:r>
              <a:rPr lang="en-GB"/>
              <a:t> file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D91FE6-7E73-4316-8508-75E52E1562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5406"/>
            <a:ext cx="5918735" cy="34163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</a:rPr>
              <a:t>@app.route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</a:rPr>
              <a:t>'/'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)</a:t>
            </a:r>
            <a:br>
              <a:rPr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</a:rPr>
              <a:t>def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</a:rPr>
              <a:t>index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():</a:t>
            </a:r>
            <a:br>
              <a:rPr lang="en-US" altLang="en-US" sz="2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</a:rPr>
              <a:t>return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</a:rPr>
              <a:t>render_template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</a:rPr>
              <a:t>'home.html'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</a:rPr>
              <a:t>)</a:t>
            </a:r>
            <a:endParaRPr lang="en-US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400" dirty="0">
              <a:solidFill>
                <a:srgbClr val="A9B7C6"/>
              </a:solidFill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BBB529"/>
                </a:solidFill>
                <a:ea typeface="Calibri"/>
                <a:cs typeface="Calibri"/>
              </a:rPr>
              <a:t>@app.route</a:t>
            </a: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(</a:t>
            </a:r>
            <a:r>
              <a:rPr lang="en-US" sz="2400" dirty="0">
                <a:solidFill>
                  <a:srgbClr val="6A8759"/>
                </a:solidFill>
                <a:ea typeface="Calibri"/>
                <a:cs typeface="Calibri"/>
              </a:rPr>
              <a:t>'/second_page'</a:t>
            </a: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)</a:t>
            </a:r>
            <a:b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</a:b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def </a:t>
            </a:r>
            <a:r>
              <a:rPr lang="en-US" sz="2400" dirty="0">
                <a:solidFill>
                  <a:srgbClr val="FFC66D"/>
                </a:solidFill>
                <a:ea typeface="Calibri"/>
                <a:cs typeface="Calibri"/>
              </a:rPr>
              <a:t>index</a:t>
            </a: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():</a:t>
            </a:r>
            <a:b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</a:b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rgbClr val="CC7832"/>
                </a:solidFill>
                <a:ea typeface="Calibri"/>
                <a:cs typeface="Calibri"/>
              </a:rPr>
              <a:t>return </a:t>
            </a:r>
            <a:r>
              <a:rPr lang="en-US" sz="2400" dirty="0" err="1">
                <a:solidFill>
                  <a:srgbClr val="A9B7C6"/>
                </a:solidFill>
                <a:ea typeface="Calibri"/>
                <a:cs typeface="Calibri"/>
              </a:rPr>
              <a:t>render_template</a:t>
            </a: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(</a:t>
            </a:r>
            <a:r>
              <a:rPr lang="en-US" sz="2400" dirty="0">
                <a:solidFill>
                  <a:srgbClr val="6A8759"/>
                </a:solidFill>
                <a:ea typeface="Calibri"/>
                <a:cs typeface="Calibri"/>
              </a:rPr>
              <a:t>'second_page.html'</a:t>
            </a:r>
            <a:r>
              <a:rPr lang="en-US" sz="2400" dirty="0">
                <a:solidFill>
                  <a:srgbClr val="A9B7C6"/>
                </a:solidFill>
                <a:ea typeface="Calibri"/>
                <a:cs typeface="Calibri"/>
              </a:rPr>
              <a:t>)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rgbClr val="A9B7C6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35D38-2C94-438F-8761-CB879B39F7A2}"/>
              </a:ext>
            </a:extLst>
          </p:cNvPr>
          <p:cNvSpPr txBox="1"/>
          <p:nvPr/>
        </p:nvSpPr>
        <p:spPr>
          <a:xfrm>
            <a:off x="7382577" y="2548736"/>
            <a:ext cx="4236399" cy="8309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400" dirty="0"/>
              <a:t>Add routing for the second page. </a:t>
            </a:r>
          </a:p>
        </p:txBody>
      </p:sp>
    </p:spTree>
    <p:extLst>
      <p:ext uri="{BB962C8B-B14F-4D97-AF65-F5344CB8AC3E}">
        <p14:creationId xmlns:p14="http://schemas.microsoft.com/office/powerpoint/2010/main" val="8817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0202-336E-47B6-8B4E-C481CA77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Dynamic URLs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87F75-BD7B-45A9-A084-768FD237489E}"/>
              </a:ext>
            </a:extLst>
          </p:cNvPr>
          <p:cNvSpPr txBox="1"/>
          <p:nvPr/>
        </p:nvSpPr>
        <p:spPr>
          <a:xfrm>
            <a:off x="6416844" y="2475107"/>
            <a:ext cx="55850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>
                <a:solidFill>
                  <a:srgbClr val="273239"/>
                </a:solidFill>
                <a:effectLst/>
              </a:rPr>
              <a:t>We can also build dynamic URLs by using variables in the URL.</a:t>
            </a:r>
          </a:p>
          <a:p>
            <a:r>
              <a:rPr lang="en-GB" sz="2400" b="0" i="0">
                <a:solidFill>
                  <a:srgbClr val="273239"/>
                </a:solidFill>
                <a:effectLst/>
              </a:rPr>
              <a:t> </a:t>
            </a:r>
          </a:p>
          <a:p>
            <a:r>
              <a:rPr lang="en-GB" sz="2400" b="0" i="0">
                <a:solidFill>
                  <a:srgbClr val="273239"/>
                </a:solidFill>
                <a:effectLst/>
              </a:rPr>
              <a:t>To add variables to URLs, use &lt;variable_name&gt; rule. </a:t>
            </a:r>
          </a:p>
          <a:p>
            <a:endParaRPr lang="en-GB" sz="2400">
              <a:solidFill>
                <a:srgbClr val="273239"/>
              </a:solidFill>
            </a:endParaRPr>
          </a:p>
          <a:p>
            <a:r>
              <a:rPr lang="en-GB" sz="2400" b="0" i="0">
                <a:solidFill>
                  <a:srgbClr val="273239"/>
                </a:solidFill>
                <a:effectLst/>
              </a:rPr>
              <a:t>The function then receives the &lt;variable_name&gt; as keyword argument.</a:t>
            </a:r>
            <a:endParaRPr lang="en-GB" sz="24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5C94E80-44DF-4BF2-81F8-4BC3431A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89" y="1447379"/>
            <a:ext cx="5005137" cy="526297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</a:rPr>
              <a:t>@app.route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'/post/&lt;int:id&gt;'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)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def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</a:rPr>
              <a:t>show_post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(id):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  <a:t># Shows the post with given id.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return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f'This post has the id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{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id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}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’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</a:b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</a:rPr>
              <a:t>@app.route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'/user/&lt;username&gt;'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)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def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</a:rPr>
              <a:t>show_user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(username):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  <a:t># Greet the user 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return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f'Hello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{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username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}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 !’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chemeClr val="bg2">
                    <a:lumMod val="50000"/>
                  </a:schemeClr>
                </a:solidFill>
              </a:rPr>
              <a:t>--------------------</a:t>
            </a:r>
            <a:r>
              <a:rPr lang="en-US" altLang="en-US" sz="2400">
                <a:solidFill>
                  <a:srgbClr val="6A8759"/>
                </a:solidFill>
              </a:rPr>
              <a:t>OR-</a:t>
            </a:r>
            <a:r>
              <a:rPr lang="en-US" altLang="en-US" sz="2400">
                <a:solidFill>
                  <a:schemeClr val="bg2">
                    <a:lumMod val="50000"/>
                  </a:schemeClr>
                </a:solidFill>
              </a:rPr>
              <a:t>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JetBrains Mono"/>
              </a:rPr>
              <a:t>@app.route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'/user/&lt;username&gt;'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show_user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(username):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Greet the user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'Hello '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username</a:t>
            </a:r>
            <a:endParaRPr kumimoji="0" lang="en-US" altLang="en-US" sz="5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1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BE86-4842-418E-8DE3-77C0C2E2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 navigation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F53857-9FC4-463F-BE19-756CC2E0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965456"/>
            <a:ext cx="6448124" cy="415498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{%extends "base.html"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 block content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&lt;h2&gt;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Welcome To Home page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&lt;/h2&gt;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   &lt;h4&gt;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Flask: Rendering Templates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&lt;/h4&gt;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   &lt;a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</a:rPr>
              <a:t>href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5C261"/>
                </a:solidFill>
                <a:effectLst/>
              </a:rPr>
              <a:t>="{{ url_for('secondpage') }}"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&gt;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Page 2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&lt;/a&gt;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   &lt;a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</a:rPr>
              <a:t>href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5C261"/>
                </a:solidFill>
                <a:effectLst/>
              </a:rPr>
              <a:t>="{{ url_for(menu') }}"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&gt;</a:t>
            </a:r>
            <a:r>
              <a:rPr lang="en-US" altLang="en-US" sz="2400">
                <a:solidFill>
                  <a:srgbClr val="A9B7C6"/>
                </a:solidFill>
              </a:rPr>
              <a:t>Menu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&lt;/a&gt;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    &lt;p&gt;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Home text contents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&lt;/p&gt;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{% endblock %}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AE21A-C18F-4AE1-A3AE-DF324441D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3958" y="2021978"/>
            <a:ext cx="4494998" cy="1173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rgbClr val="00B050"/>
                </a:solidFill>
              </a:rPr>
              <a:t>{{ url_for('secondpage') }} </a:t>
            </a:r>
            <a:r>
              <a:rPr lang="en-GB"/>
              <a:t>will link the second page here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FB6E2F-251A-41AF-BF2F-5EE1448F8781}"/>
              </a:ext>
            </a:extLst>
          </p:cNvPr>
          <p:cNvSpPr/>
          <p:nvPr/>
        </p:nvSpPr>
        <p:spPr>
          <a:xfrm>
            <a:off x="7536581" y="3662414"/>
            <a:ext cx="4494998" cy="18797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Add another page (menu.html in this case) in your application (in templates folder) and add the link as above</a:t>
            </a:r>
          </a:p>
        </p:txBody>
      </p:sp>
    </p:spTree>
    <p:extLst>
      <p:ext uri="{BB962C8B-B14F-4D97-AF65-F5344CB8AC3E}">
        <p14:creationId xmlns:p14="http://schemas.microsoft.com/office/powerpoint/2010/main" val="354972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960B-6509-44C5-AA4E-92AAD197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Passing values from back-end to front-end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764E-6033-4ACA-88A9-531303F3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779263"/>
            <a:ext cx="5001768" cy="171361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/>
              <a:t>We will pass these values to front-end</a:t>
            </a:r>
            <a:endParaRPr lang="en-GB" sz="2800">
              <a:solidFill>
                <a:srgbClr val="BCBEC4"/>
              </a:solidFill>
              <a:effectLst/>
              <a:latin typeface="JetBrains Mono"/>
            </a:endParaRPr>
          </a:p>
          <a:p>
            <a:r>
              <a:rPr lang="en-GB" sz="2800">
                <a:solidFill>
                  <a:srgbClr val="AA4926"/>
                </a:solidFill>
                <a:effectLst/>
                <a:latin typeface="JetBrains Mono"/>
              </a:rPr>
              <a:t>name</a:t>
            </a:r>
            <a:r>
              <a:rPr lang="en-GB" sz="2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GB" sz="2800">
                <a:solidFill>
                  <a:srgbClr val="6AAB73"/>
                </a:solidFill>
                <a:effectLst/>
                <a:latin typeface="JetBrains Mono"/>
              </a:rPr>
              <a:t>'bob’</a:t>
            </a:r>
            <a:endParaRPr lang="en-GB">
              <a:solidFill>
                <a:srgbClr val="BCBEC4"/>
              </a:solidFill>
              <a:latin typeface="JetBrains Mono"/>
            </a:endParaRPr>
          </a:p>
          <a:p>
            <a:r>
              <a:rPr lang="en-GB" sz="2800">
                <a:solidFill>
                  <a:srgbClr val="AA4926"/>
                </a:solidFill>
                <a:effectLst/>
                <a:latin typeface="JetBrains Mono"/>
              </a:rPr>
              <a:t>age</a:t>
            </a:r>
            <a:r>
              <a:rPr lang="en-GB" sz="2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GB" sz="2800">
                <a:solidFill>
                  <a:srgbClr val="2AACB8"/>
                </a:solidFill>
                <a:effectLst/>
                <a:latin typeface="JetBrains Mono"/>
              </a:rPr>
              <a:t>40</a:t>
            </a:r>
          </a:p>
          <a:p>
            <a:r>
              <a:rPr lang="en-GB" sz="2800">
                <a:solidFill>
                  <a:srgbClr val="AA4926"/>
                </a:solidFill>
                <a:effectLst/>
                <a:latin typeface="JetBrains Mono"/>
              </a:rPr>
              <a:t>fruits</a:t>
            </a:r>
            <a:r>
              <a:rPr lang="en-GB" sz="2800">
                <a:solidFill>
                  <a:srgbClr val="BCBEC4"/>
                </a:solidFill>
                <a:effectLst/>
                <a:latin typeface="JetBrains Mono"/>
              </a:rPr>
              <a:t>=fruits</a:t>
            </a: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E3CEF-760C-412E-A836-D1344CB8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68" y="1690688"/>
            <a:ext cx="5436988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B3AE60"/>
                </a:solidFill>
                <a:effectLst/>
                <a:latin typeface="JetBrains Mono"/>
              </a:rPr>
              <a:t>@</a:t>
            </a:r>
            <a:r>
              <a:rPr lang="en-GB" sz="1800" err="1">
                <a:solidFill>
                  <a:srgbClr val="B3AE60"/>
                </a:solidFill>
                <a:effectLst/>
                <a:latin typeface="JetBrains Mono"/>
              </a:rPr>
              <a:t>app.route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'/example'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GB" sz="1800">
                <a:solidFill>
                  <a:srgbClr val="56A8F5"/>
                </a:solidFill>
                <a:effectLst/>
                <a:latin typeface="JetBrains Mono"/>
              </a:rPr>
              <a:t>example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fruits = [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'apple'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'orange'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'pear'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'pineapple'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'durian’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endParaRPr lang="en-GB" sz="1800">
              <a:solidFill>
                <a:srgbClr val="BCBEC4"/>
              </a:solidFill>
              <a:effectLst/>
              <a:latin typeface="JetBrains Mono"/>
            </a:endParaRPr>
          </a:p>
          <a:p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GB" sz="18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GB" sz="1800" err="1">
                <a:solidFill>
                  <a:srgbClr val="BCBEC4"/>
                </a:solidFill>
                <a:effectLst/>
                <a:latin typeface="JetBrains Mono"/>
              </a:rPr>
              <a:t>render_template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GB" sz="1800" err="1">
                <a:solidFill>
                  <a:srgbClr val="6AAB73"/>
                </a:solidFill>
                <a:effectLst/>
                <a:latin typeface="JetBrains Mono"/>
              </a:rPr>
              <a:t>examples.html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GB" sz="1800">
                <a:solidFill>
                  <a:srgbClr val="AA4926"/>
                </a:solidFill>
                <a:effectLst/>
                <a:latin typeface="JetBrains Mono"/>
              </a:rPr>
              <a:t>name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GB" sz="1800">
                <a:solidFill>
                  <a:srgbClr val="6AAB73"/>
                </a:solidFill>
                <a:effectLst/>
                <a:latin typeface="JetBrains Mono"/>
              </a:rPr>
              <a:t>'bob'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GB" sz="1800">
                <a:solidFill>
                  <a:srgbClr val="AA4926"/>
                </a:solidFill>
                <a:effectLst/>
                <a:latin typeface="JetBrains Mono"/>
              </a:rPr>
              <a:t>age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GB" sz="1800">
                <a:solidFill>
                  <a:srgbClr val="2AACB8"/>
                </a:solidFill>
                <a:effectLst/>
                <a:latin typeface="JetBrains Mono"/>
              </a:rPr>
              <a:t>40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GB" sz="1800">
                <a:solidFill>
                  <a:srgbClr val="AA4926"/>
                </a:solidFill>
                <a:effectLst/>
                <a:latin typeface="JetBrains Mono"/>
              </a:rPr>
              <a:t>fruits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=fruits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7FE84-DF6A-B001-E8E5-185CFEB5D7EF}"/>
              </a:ext>
            </a:extLst>
          </p:cNvPr>
          <p:cNvSpPr txBox="1"/>
          <p:nvPr/>
        </p:nvSpPr>
        <p:spPr>
          <a:xfrm>
            <a:off x="6573071" y="1690688"/>
            <a:ext cx="3685675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{%extends "</a:t>
            </a:r>
            <a:r>
              <a:rPr lang="en-GB" sz="1800" err="1">
                <a:solidFill>
                  <a:srgbClr val="BCBEC4"/>
                </a:solidFill>
                <a:effectLst/>
                <a:latin typeface="JetBrains Mono"/>
              </a:rPr>
              <a:t>base.html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" %}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{% block content %}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&lt;div&gt;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Name: {{name}}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&lt;/div&gt;</a:t>
            </a:r>
            <a:br>
              <a:rPr lang="en-GB" sz="180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  &lt;div&gt;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Age: {{age}}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&lt;/div&gt;</a:t>
            </a:r>
            <a:br>
              <a:rPr lang="en-GB" sz="180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  &lt;</a:t>
            </a:r>
            <a:r>
              <a:rPr lang="en-GB" sz="1800" err="1">
                <a:solidFill>
                  <a:srgbClr val="D5B778"/>
                </a:solidFill>
                <a:effectLst/>
                <a:latin typeface="JetBrains Mono"/>
              </a:rPr>
              <a:t>br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/&gt;&lt;</a:t>
            </a:r>
            <a:r>
              <a:rPr lang="en-GB" sz="1800" err="1">
                <a:solidFill>
                  <a:srgbClr val="D5B778"/>
                </a:solidFill>
                <a:effectLst/>
                <a:latin typeface="JetBrains Mono"/>
              </a:rPr>
              <a:t>br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/&gt;</a:t>
            </a:r>
            <a:br>
              <a:rPr lang="en-GB" sz="180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GB" sz="180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  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{% for fruit in fruits %}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     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&lt;div&gt;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{{fruit}}</a:t>
            </a: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&lt;/div&gt;</a:t>
            </a:r>
            <a:br>
              <a:rPr lang="en-GB" sz="180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D5B778"/>
                </a:solidFill>
                <a:effectLst/>
                <a:latin typeface="JetBrains Mono"/>
              </a:rPr>
              <a:t>   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{% </a:t>
            </a:r>
            <a:r>
              <a:rPr lang="en-GB" sz="1800" err="1">
                <a:solidFill>
                  <a:srgbClr val="BCBEC4"/>
                </a:solidFill>
                <a:effectLst/>
                <a:latin typeface="JetBrains Mono"/>
              </a:rPr>
              <a:t>endfor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 %}</a:t>
            </a:r>
            <a:br>
              <a:rPr lang="en-GB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{%</a:t>
            </a:r>
            <a:r>
              <a:rPr lang="en-GB" sz="1800" err="1">
                <a:solidFill>
                  <a:srgbClr val="BCBEC4"/>
                </a:solidFill>
                <a:effectLst/>
                <a:latin typeface="JetBrains Mono"/>
              </a:rPr>
              <a:t>endblock</a:t>
            </a:r>
            <a:r>
              <a:rPr lang="en-GB" sz="1800">
                <a:solidFill>
                  <a:srgbClr val="BCBEC4"/>
                </a:solidFill>
                <a:effectLst/>
                <a:latin typeface="JetBrains Mono"/>
              </a:rPr>
              <a:t>%}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AA0180-95C1-E6FC-8DD0-AC9315B75CD1}"/>
              </a:ext>
            </a:extLst>
          </p:cNvPr>
          <p:cNvSpPr txBox="1">
            <a:spLocks/>
          </p:cNvSpPr>
          <p:nvPr/>
        </p:nvSpPr>
        <p:spPr>
          <a:xfrm>
            <a:off x="6946392" y="4797550"/>
            <a:ext cx="5001768" cy="17136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Then front-end refers to the variable and display value</a:t>
            </a:r>
            <a:endParaRPr lang="en-GB">
              <a:solidFill>
                <a:srgbClr val="BCBEC4"/>
              </a:solidFill>
              <a:latin typeface="JetBrains Mono"/>
            </a:endParaRPr>
          </a:p>
          <a:p>
            <a:r>
              <a:rPr lang="en-GB">
                <a:solidFill>
                  <a:srgbClr val="AA4926"/>
                </a:solidFill>
                <a:latin typeface="JetBrains Mono"/>
              </a:rPr>
              <a:t>name</a:t>
            </a:r>
            <a:r>
              <a:rPr lang="en-GB">
                <a:solidFill>
                  <a:srgbClr val="BCBEC4"/>
                </a:solidFill>
                <a:latin typeface="JetBrains Mono"/>
              </a:rPr>
              <a:t>=</a:t>
            </a:r>
            <a:r>
              <a:rPr lang="en-GB">
                <a:solidFill>
                  <a:srgbClr val="6AAB73"/>
                </a:solidFill>
                <a:latin typeface="JetBrains Mono"/>
              </a:rPr>
              <a:t>'bob’</a:t>
            </a:r>
            <a:endParaRPr lang="en-GB">
              <a:solidFill>
                <a:srgbClr val="BCBEC4"/>
              </a:solidFill>
              <a:latin typeface="JetBrains Mono"/>
            </a:endParaRPr>
          </a:p>
          <a:p>
            <a:r>
              <a:rPr lang="en-GB">
                <a:solidFill>
                  <a:srgbClr val="AA4926"/>
                </a:solidFill>
                <a:latin typeface="JetBrains Mono"/>
              </a:rPr>
              <a:t>age</a:t>
            </a:r>
            <a:r>
              <a:rPr lang="en-GB">
                <a:solidFill>
                  <a:srgbClr val="BCBEC4"/>
                </a:solidFill>
                <a:latin typeface="JetBrains Mono"/>
              </a:rPr>
              <a:t>=</a:t>
            </a:r>
            <a:r>
              <a:rPr lang="en-GB">
                <a:solidFill>
                  <a:srgbClr val="2AACB8"/>
                </a:solidFill>
                <a:latin typeface="JetBrains Mono"/>
              </a:rPr>
              <a:t>40</a:t>
            </a:r>
          </a:p>
          <a:p>
            <a:r>
              <a:rPr lang="en-GB">
                <a:solidFill>
                  <a:srgbClr val="AA4926"/>
                </a:solidFill>
                <a:latin typeface="JetBrains Mono"/>
              </a:rPr>
              <a:t>all the values in fruits using a for loop</a:t>
            </a:r>
            <a:endParaRPr lang="en-GB"/>
          </a:p>
        </p:txBody>
      </p:sp>
      <p:pic>
        <p:nvPicPr>
          <p:cNvPr id="9" name="Picture 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F47DE48-4937-7DDD-51E9-94D9206603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81162" b="4977"/>
          <a:stretch/>
        </p:blipFill>
        <p:spPr>
          <a:xfrm>
            <a:off x="10638982" y="2060450"/>
            <a:ext cx="1553018" cy="2311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064B21-BD77-6C17-1C51-627AA971E98B}"/>
              </a:ext>
            </a:extLst>
          </p:cNvPr>
          <p:cNvSpPr txBox="1"/>
          <p:nvPr/>
        </p:nvSpPr>
        <p:spPr>
          <a:xfrm>
            <a:off x="10363197" y="1509557"/>
            <a:ext cx="182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Web page shows</a:t>
            </a:r>
          </a:p>
        </p:txBody>
      </p:sp>
    </p:spTree>
    <p:extLst>
      <p:ext uri="{BB962C8B-B14F-4D97-AF65-F5344CB8AC3E}">
        <p14:creationId xmlns:p14="http://schemas.microsoft.com/office/powerpoint/2010/main" val="325858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960B-6509-44C5-AA4E-92AAD197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products to menu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764E-6033-4ACA-88A9-531303F3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587" y="2141537"/>
            <a:ext cx="4332010" cy="4351338"/>
          </a:xfrm>
        </p:spPr>
        <p:txBody>
          <a:bodyPr/>
          <a:lstStyle/>
          <a:p>
            <a:pPr marL="0" indent="0">
              <a:buNone/>
            </a:pPr>
            <a:r>
              <a:rPr kumimoji="0" lang="en-US" altLang="en-US" sz="2800" b="0" i="0" u="none" strike="noStrike" cap="none" normalizeH="0" baseline="0" err="1">
                <a:ln>
                  <a:noFill/>
                </a:ln>
                <a:effectLst/>
              </a:rPr>
              <a:t>render_template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(</a:t>
            </a:r>
          </a:p>
          <a:p>
            <a:pPr marL="0" indent="0">
              <a:buNone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'</a:t>
            </a:r>
            <a:r>
              <a:rPr kumimoji="0" lang="en-US" altLang="en-US" sz="2800" b="0" i="0" u="none" strike="noStrike" cap="none" normalizeH="0" baseline="0" err="1">
                <a:ln>
                  <a:noFill/>
                </a:ln>
                <a:effectLst/>
              </a:rPr>
              <a:t>products.html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',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</a:rPr>
              <a:t>products=products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)</a:t>
            </a:r>
          </a:p>
          <a:p>
            <a:r>
              <a:rPr lang="en-GB"/>
              <a:t>We will pass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</a:rPr>
              <a:t>products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dictionary to the page when we render the template.</a:t>
            </a: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E3CEF-760C-412E-A836-D1344CB8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74" y="2262356"/>
            <a:ext cx="7510913" cy="34778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</a:rPr>
              <a:t>@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BBB529"/>
                </a:solidFill>
                <a:effectLst/>
              </a:rPr>
              <a:t>app.route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‘/menu/'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</a:rPr>
              <a:t>menu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  products ={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"Espresso"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:[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Latte"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"Mocha"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"Macchiato"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"Cappuccino"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"Americano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]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"Brewed Coffee"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:[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"Filter coffee"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"Iced Coffee &amp; Cold Brew"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]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"Hot Tea"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:[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"Brewed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Tea"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"Tea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 Latte"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]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"Iced Tea"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:[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"Iced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Tea"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"Iced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 Tea Latte"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]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"Hot Chocolate"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:[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"Classic Hot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Chocolate"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C7832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"White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 Hot Chocolate"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}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return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</a:rPr>
              <a:t>render_template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</a:rPr>
              <a:t>menu.html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</a:rPr>
              <a:t>'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A4926"/>
                </a:solidFill>
                <a:effectLst/>
              </a:rPr>
              <a:t>products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</a:rPr>
              <a:t>=products)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999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960B-6509-44C5-AA4E-92AAD197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products to menu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764E-6033-4ACA-88A9-531303F3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587" y="1787119"/>
            <a:ext cx="4332010" cy="47057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Use for loop to dynamically generate the products list</a:t>
            </a:r>
            <a:endParaRPr lang="en-US" sz="2800" b="0" i="0" u="none" strike="noStrike" cap="none" normalizeH="0" baseline="0">
              <a:ln>
                <a:noFill/>
              </a:ln>
              <a:effectLst/>
              <a:cs typeface="Calibri"/>
            </a:endParaRPr>
          </a:p>
          <a:p>
            <a:pPr>
              <a:buFont typeface="Arial"/>
              <a:buChar char="•"/>
            </a:pPr>
            <a:r>
              <a:rPr lang="en-GB"/>
              <a:t>Add menu</a:t>
            </a:r>
            <a:r>
              <a:rPr kumimoji="0" lang="en-GB" sz="2800" b="0" i="0" u="none" strike="noStrike" cap="none" normalizeH="0" baseline="0">
                <a:ln>
                  <a:noFill/>
                </a:ln>
                <a:effectLst/>
              </a:rPr>
              <a:t>.html</a:t>
            </a:r>
            <a:r>
              <a:rPr lang="en-GB"/>
              <a:t> to templates folder</a:t>
            </a:r>
            <a:endParaRPr lang="en-US" sz="2800" b="0" i="0" u="none" strike="noStrike" cap="none" normalizeH="0" baseline="0">
              <a:ln>
                <a:noFill/>
              </a:ln>
              <a:effectLst/>
              <a:cs typeface="Calibri"/>
            </a:endParaRPr>
          </a:p>
          <a:p>
            <a:pPr>
              <a:buFont typeface="Arial"/>
            </a:pPr>
            <a:r>
              <a:rPr lang="en-GB"/>
              <a:t>The </a:t>
            </a:r>
            <a:r>
              <a:rPr kumimoji="0" lang="en-GB" sz="2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products </a:t>
            </a:r>
            <a:r>
              <a:rPr kumimoji="0" lang="en-GB" sz="2800" b="0" i="0" u="none" strike="noStrike" cap="none" normalizeH="0" baseline="0">
                <a:ln>
                  <a:noFill/>
                </a:ln>
                <a:effectLst/>
              </a:rPr>
              <a:t>dictionary</a:t>
            </a:r>
            <a:r>
              <a:rPr lang="en-GB"/>
              <a:t> passed to this page is used</a:t>
            </a:r>
            <a:r>
              <a:rPr kumimoji="0" lang="en-GB" sz="2800" b="0" i="0" u="none" strike="noStrike" cap="none" normalizeH="0" baseline="0">
                <a:ln>
                  <a:noFill/>
                </a:ln>
                <a:effectLst/>
              </a:rPr>
              <a:t> to </a:t>
            </a:r>
            <a:r>
              <a:rPr lang="en-GB"/>
              <a:t>create &lt;p&gt; elements in </a:t>
            </a:r>
            <a:r>
              <a:rPr kumimoji="0" lang="en-GB" sz="2800" b="0" i="0" u="none" strike="noStrike" cap="none" normalizeH="0" baseline="0">
                <a:ln>
                  <a:noFill/>
                </a:ln>
                <a:effectLst/>
              </a:rPr>
              <a:t>the page </a:t>
            </a:r>
            <a:r>
              <a:rPr lang="en-GB"/>
              <a:t>with html</a:t>
            </a:r>
            <a:r>
              <a:rPr kumimoji="0" lang="en-GB" sz="28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lang="en-GB">
              <a:cs typeface="Ca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E3CEF-760C-412E-A836-D1344CB8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97" y="1754751"/>
            <a:ext cx="7448890" cy="39703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E8BF6A"/>
                </a:solidFill>
              </a:rPr>
              <a:t>&lt;h1&gt;</a:t>
            </a:r>
            <a:r>
              <a:rPr lang="en-US">
                <a:solidFill>
                  <a:srgbClr val="000000"/>
                </a:solidFill>
              </a:rPr>
              <a:t>Products</a:t>
            </a:r>
            <a:r>
              <a:rPr lang="en-US">
                <a:solidFill>
                  <a:srgbClr val="E8BF6A"/>
                </a:solidFill>
              </a:rPr>
              <a:t>&lt;/h1&gt;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&lt;div </a:t>
            </a:r>
            <a:r>
              <a:rPr lang="en-US">
                <a:solidFill>
                  <a:srgbClr val="BABABA"/>
                </a:solidFill>
              </a:rPr>
              <a:t>style</a:t>
            </a:r>
            <a:r>
              <a:rPr lang="en-US">
                <a:solidFill>
                  <a:srgbClr val="A5C261"/>
                </a:solidFill>
              </a:rPr>
              <a:t>="width: 50%; margin: auto"</a:t>
            </a:r>
            <a:r>
              <a:rPr lang="en-US">
                <a:solidFill>
                  <a:srgbClr val="E8BF6A"/>
                </a:solidFill>
              </a:rPr>
              <a:t>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 for product in </a:t>
            </a:r>
            <a:r>
              <a:rPr kumimoji="0" lang="en-US" b="0" i="0" u="none" strike="noStrike" cap="none" normalizeH="0" baseline="0">
                <a:ln>
                  <a:noFill/>
                </a:ln>
                <a:solidFill>
                  <a:srgbClr val="E8BF6A"/>
                </a:solidFill>
                <a:effectLst/>
              </a:rPr>
              <a:t>products </a:t>
            </a:r>
            <a:r>
              <a:rPr lang="en-US">
                <a:solidFill>
                  <a:srgbClr val="E8BF6A"/>
                </a:solidFill>
              </a:rPr>
              <a:t>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{%if </a:t>
            </a:r>
            <a:r>
              <a:rPr lang="en-US" err="1">
                <a:solidFill>
                  <a:srgbClr val="E8BF6A"/>
                </a:solidFill>
              </a:rPr>
              <a:t>loop.index</a:t>
            </a:r>
            <a:r>
              <a:rPr lang="en-US">
                <a:solidFill>
                  <a:srgbClr val="E8BF6A"/>
                </a:solidFill>
              </a:rPr>
              <a:t> % 2 == 0 %}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 set </a:t>
            </a:r>
            <a:r>
              <a:rPr lang="en-US" err="1">
                <a:solidFill>
                  <a:srgbClr val="E8BF6A"/>
                </a:solidFill>
              </a:rPr>
              <a:t>bg_color</a:t>
            </a:r>
            <a:r>
              <a:rPr lang="en-US">
                <a:solidFill>
                  <a:srgbClr val="E8BF6A"/>
                </a:solidFill>
              </a:rPr>
              <a:t> = '#</a:t>
            </a:r>
            <a:r>
              <a:rPr lang="en-US" err="1">
                <a:solidFill>
                  <a:srgbClr val="E8BF6A"/>
                </a:solidFill>
              </a:rPr>
              <a:t>eeeeeb</a:t>
            </a:r>
            <a:r>
              <a:rPr lang="en-US">
                <a:solidFill>
                  <a:srgbClr val="E8BF6A"/>
                </a:solidFill>
              </a:rPr>
              <a:t>' 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{%else%}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 set </a:t>
            </a:r>
            <a:r>
              <a:rPr lang="en-US" err="1">
                <a:solidFill>
                  <a:srgbClr val="E8BF6A"/>
                </a:solidFill>
              </a:rPr>
              <a:t>bg_color</a:t>
            </a:r>
            <a:r>
              <a:rPr lang="en-US">
                <a:solidFill>
                  <a:srgbClr val="E8BF6A"/>
                </a:solidFill>
              </a:rPr>
              <a:t> = '#</a:t>
            </a:r>
            <a:r>
              <a:rPr lang="en-US" err="1">
                <a:solidFill>
                  <a:srgbClr val="E8BF6A"/>
                </a:solidFill>
              </a:rPr>
              <a:t>eeeebb</a:t>
            </a:r>
            <a:r>
              <a:rPr lang="en-US">
                <a:solidFill>
                  <a:srgbClr val="E8BF6A"/>
                </a:solidFill>
              </a:rPr>
              <a:t>' 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 endif 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&lt;div </a:t>
            </a:r>
            <a:r>
              <a:rPr lang="en-US">
                <a:solidFill>
                  <a:srgbClr val="BABABA"/>
                </a:solidFill>
              </a:rPr>
              <a:t>style</a:t>
            </a:r>
            <a:r>
              <a:rPr lang="en-US">
                <a:solidFill>
                  <a:srgbClr val="A5C261"/>
                </a:solidFill>
              </a:rPr>
              <a:t>="padding: 10px; background-color: {{ </a:t>
            </a:r>
            <a:r>
              <a:rPr lang="en-US" err="1">
                <a:solidFill>
                  <a:srgbClr val="A5C261"/>
                </a:solidFill>
              </a:rPr>
              <a:t>bg</a:t>
            </a:r>
            <a:r>
              <a:rPr kumimoji="0" lang="en-US" b="0" i="0" u="none" strike="noStrike" cap="none" normalizeH="0" baseline="0" err="1">
                <a:ln>
                  <a:noFill/>
                </a:ln>
                <a:solidFill>
                  <a:srgbClr val="A5C261"/>
                </a:solidFill>
                <a:effectLst/>
              </a:rPr>
              <a:t>_</a:t>
            </a:r>
            <a:r>
              <a:rPr lang="en-US" err="1">
                <a:solidFill>
                  <a:srgbClr val="A5C261"/>
                </a:solidFill>
              </a:rPr>
              <a:t>color</a:t>
            </a:r>
            <a:r>
              <a:rPr lang="en-US">
                <a:solidFill>
                  <a:srgbClr val="A5C261"/>
                </a:solidFill>
              </a:rPr>
              <a:t> }}; margin: 20px"</a:t>
            </a:r>
            <a:r>
              <a:rPr lang="en-US">
                <a:solidFill>
                  <a:srgbClr val="E8BF6A"/>
                </a:solidFill>
              </a:rPr>
              <a:t>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&lt;p&gt;</a:t>
            </a:r>
            <a:r>
              <a:rPr lang="en-US">
                <a:solidFill>
                  <a:srgbClr val="000000"/>
                </a:solidFill>
              </a:rPr>
              <a:t>#{{ </a:t>
            </a:r>
            <a:r>
              <a:rPr lang="en-US" err="1">
                <a:solidFill>
                  <a:srgbClr val="000000"/>
                </a:solidFill>
              </a:rPr>
              <a:t>loop</a:t>
            </a:r>
            <a:r>
              <a:rPr kumimoji="0" lang="en-US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r>
              <a:rPr lang="en-US" err="1">
                <a:solidFill>
                  <a:srgbClr val="000000"/>
                </a:solidFill>
              </a:rPr>
              <a:t>index</a:t>
            </a:r>
            <a:r>
              <a:rPr lang="en-US">
                <a:solidFill>
                  <a:srgbClr val="000000"/>
                </a:solidFill>
              </a:rPr>
              <a:t> }}</a:t>
            </a:r>
            <a:r>
              <a:rPr lang="en-US">
                <a:solidFill>
                  <a:srgbClr val="E8BF6A"/>
                </a:solidFill>
              </a:rPr>
              <a:t>&lt;/p&gt;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&lt;p </a:t>
            </a:r>
            <a:r>
              <a:rPr lang="en-US">
                <a:solidFill>
                  <a:srgbClr val="BABABA"/>
                </a:solidFill>
              </a:rPr>
              <a:t>style</a:t>
            </a:r>
            <a:r>
              <a:rPr lang="en-US">
                <a:solidFill>
                  <a:srgbClr val="A5C261"/>
                </a:solidFill>
              </a:rPr>
              <a:t>="font-size: 24px"</a:t>
            </a:r>
            <a:r>
              <a:rPr lang="en-US">
                <a:solidFill>
                  <a:srgbClr val="E8BF6A"/>
                </a:solidFill>
              </a:rPr>
              <a:t>&gt;</a:t>
            </a:r>
            <a:r>
              <a:rPr lang="en-US">
                <a:solidFill>
                  <a:srgbClr val="000000"/>
                </a:solidFill>
              </a:rPr>
              <a:t>{{ product }}</a:t>
            </a:r>
            <a:r>
              <a:rPr lang="en-US">
                <a:solidFill>
                  <a:srgbClr val="E8BF6A"/>
                </a:solidFill>
              </a:rPr>
              <a:t>&lt;/p&gt;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&lt;/div&gt;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{% </a:t>
            </a:r>
            <a:r>
              <a:rPr lang="en-US" err="1">
                <a:solidFill>
                  <a:srgbClr val="E8BF6A"/>
                </a:solidFill>
              </a:rPr>
              <a:t>endfor</a:t>
            </a:r>
            <a:r>
              <a:rPr lang="en-US">
                <a:solidFill>
                  <a:srgbClr val="E8BF6A"/>
                </a:solidFill>
              </a:rPr>
              <a:t> %}</a:t>
            </a:r>
            <a:br>
              <a:rPr lang="en-US">
                <a:solidFill>
                  <a:srgbClr val="E8BF6A"/>
                </a:solidFill>
              </a:rPr>
            </a:br>
            <a:r>
              <a:rPr lang="en-US">
                <a:solidFill>
                  <a:srgbClr val="E8BF6A"/>
                </a:solidFill>
              </a:rPr>
              <a:t>&lt;/div&gt;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0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953F-4101-49E3-98FE-AE4B7BF8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Now work on your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66CA6-F021-47F9-8A43-C2CB566A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Add all the items in the menu</a:t>
            </a:r>
          </a:p>
          <a:p>
            <a:r>
              <a:rPr lang="en-GB"/>
              <a:t>Add contents and CSS </a:t>
            </a:r>
            <a:endParaRPr lang="en-GB">
              <a:cs typeface="Calibri"/>
            </a:endParaRPr>
          </a:p>
          <a:p>
            <a:endParaRPr lang="en-GB">
              <a:cs typeface="Calibri"/>
            </a:endParaRPr>
          </a:p>
          <a:p>
            <a:r>
              <a:rPr lang="en-GB">
                <a:cs typeface="Calibri"/>
              </a:rPr>
              <a:t>See code samples in github: </a:t>
            </a:r>
            <a:r>
              <a:rPr lang="en-GB">
                <a:ea typeface="+mn-lt"/>
                <a:cs typeface="+mn-lt"/>
                <a:hlinkClick r:id="rId2"/>
              </a:rPr>
              <a:t>GitHub - chanyadeshani/Cofeeshop: TLevel Cofeeshop project</a:t>
            </a:r>
            <a:endParaRPr lang="en-GB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617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9d42f5-51fd-4996-aa10-3c48c7de2cd6" xsi:nil="true"/>
    <lcf76f155ced4ddcb4097134ff3c332f xmlns="64cd3826-1feb-4163-9f87-88e7c51afb9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A0159EC0DE6A47BD92585FD305D8E1" ma:contentTypeVersion="13" ma:contentTypeDescription="Create a new document." ma:contentTypeScope="" ma:versionID="865faf19dabdb9cc9c9275d71b5b33cb">
  <xsd:schema xmlns:xsd="http://www.w3.org/2001/XMLSchema" xmlns:xs="http://www.w3.org/2001/XMLSchema" xmlns:p="http://schemas.microsoft.com/office/2006/metadata/properties" xmlns:ns2="64cd3826-1feb-4163-9f87-88e7c51afb96" xmlns:ns3="589d42f5-51fd-4996-aa10-3c48c7de2cd6" targetNamespace="http://schemas.microsoft.com/office/2006/metadata/properties" ma:root="true" ma:fieldsID="17611d9d6b4286b6c9af50b0d9ac2c0e" ns2:_="" ns3:_="">
    <xsd:import namespace="64cd3826-1feb-4163-9f87-88e7c51afb96"/>
    <xsd:import namespace="589d42f5-51fd-4996-aa10-3c48c7de2c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d3826-1feb-4163-9f87-88e7c51af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794646a-bfbc-4e19-9222-73e3956fd7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9d42f5-51fd-4996-aa10-3c48c7de2cd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0c60dbf-0190-4e1f-897b-78f4423f8d23}" ma:internalName="TaxCatchAll" ma:showField="CatchAllData" ma:web="589d42f5-51fd-4996-aa10-3c48c7de2c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E8E133-A61E-4FE3-84A4-4C80899184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A8CC3B-6948-4245-A04D-0308E3B39C21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fda0a4ae-1112-4dfc-bc7f-711add5eb564"/>
    <ds:schemaRef ds:uri="http://schemas.microsoft.com/office/2006/metadata/properties"/>
    <ds:schemaRef ds:uri="http://schemas.microsoft.com/office/infopath/2007/PartnerControls"/>
    <ds:schemaRef ds:uri="http://purl.org/dc/terms/"/>
    <ds:schemaRef ds:uri="5672f185-0423-4878-8383-52f2763eb10e"/>
    <ds:schemaRef ds:uri="http://www.w3.org/XML/1998/namespace"/>
    <ds:schemaRef ds:uri="589d42f5-51fd-4996-aa10-3c48c7de2cd6"/>
    <ds:schemaRef ds:uri="64cd3826-1feb-4163-9f87-88e7c51afb96"/>
  </ds:schemaRefs>
</ds:datastoreItem>
</file>

<file path=customXml/itemProps3.xml><?xml version="1.0" encoding="utf-8"?>
<ds:datastoreItem xmlns:ds="http://schemas.openxmlformats.org/officeDocument/2006/customXml" ds:itemID="{9B410932-A97D-4BC1-ACF1-A9180434FD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cd3826-1feb-4163-9f87-88e7c51afb96"/>
    <ds:schemaRef ds:uri="589d42f5-51fd-4996-aa10-3c48c7de2c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Developing the client-side</vt:lpstr>
      <vt:lpstr>Base.html</vt:lpstr>
      <vt:lpstr>First page and second page using base content</vt:lpstr>
      <vt:lpstr>Update the main.py file</vt:lpstr>
      <vt:lpstr>Dynamic URLs </vt:lpstr>
      <vt:lpstr>Add navigation</vt:lpstr>
      <vt:lpstr>Passing values from back-end to front-end</vt:lpstr>
      <vt:lpstr>Adding products to menu page</vt:lpstr>
      <vt:lpstr>Adding products to menu page</vt:lpstr>
      <vt:lpstr>Now work on your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the client-side</dc:title>
  <dc:creator>Chanya Subasingha Arachchige</dc:creator>
  <cp:lastModifiedBy>Chanya Subasingha Arachchige</cp:lastModifiedBy>
  <cp:revision>9</cp:revision>
  <dcterms:created xsi:type="dcterms:W3CDTF">2023-11-29T12:34:28Z</dcterms:created>
  <dcterms:modified xsi:type="dcterms:W3CDTF">2025-01-31T10:17:37Z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0x010100FAA0159EC0DE6A47BD92585FD305D8E1</vt:lpwstr>
  </property>
  <property fmtid="{D5CDD505-2E9C-101B-9397-08002B2CF9AE}" pid="3" name="MediaServiceImageTags">
    <vt:lpwstr/>
  </property>
</Properties>
</file>